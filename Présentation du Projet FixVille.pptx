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La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31A505-8E2F-41D3-80AB-A1145263F4F3}">
  <a:tblStyle styleId="{6031A505-8E2F-41D3-80AB-A1145263F4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atoLight-bold.fntdata"/><Relationship Id="rId27" Type="http://schemas.openxmlformats.org/officeDocument/2006/relationships/font" Target="fonts/La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11" Type="http://schemas.openxmlformats.org/officeDocument/2006/relationships/image" Target="../media/image20.png"/><Relationship Id="rId10" Type="http://schemas.openxmlformats.org/officeDocument/2006/relationships/image" Target="../media/image11.png"/><Relationship Id="rId12" Type="http://schemas.openxmlformats.org/officeDocument/2006/relationships/image" Target="../media/image29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53023"/>
            <a:ext cx="3810000" cy="155019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22475" y="1354633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FIX</a:t>
            </a:r>
            <a:r>
              <a:rPr b="1" lang="en-US" sz="6000">
                <a:solidFill>
                  <a:srgbClr val="005599"/>
                </a:solidFill>
                <a:latin typeface="Poppins"/>
                <a:ea typeface="Poppins"/>
                <a:cs typeface="Poppins"/>
                <a:sym typeface="Poppins"/>
              </a:rPr>
              <a:t>VILLE</a:t>
            </a:r>
            <a:endParaRPr>
              <a:solidFill>
                <a:srgbClr val="005599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954833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Réalisation d'une application de gestion des signalements urbains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6410325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2024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096500" y="6410325"/>
            <a:ext cx="1524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Dossier de Projet - Page 1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162573"/>
            <a:ext cx="3810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Présenté par : Yousri GUERRAS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4497734"/>
            <a:ext cx="381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Formation : Développeur Web &amp; Web Mobile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5168056"/>
            <a:ext cx="3810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AFPA La Sentinelle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8048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6410325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Analyse du besoin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2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438" y="2285285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Le Problème</a:t>
            </a:r>
            <a:endParaRPr b="1">
              <a:solidFill>
                <a:srgbClr val="003366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837110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communication entre citoyens et services municipaux est souvent fragmentée et peu réactive. Les signalements (trous, éclairage) se perdent dans des processus manuels.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4033093"/>
            <a:ext cx="52387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309318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 Solution : FixVille</a:t>
            </a:r>
            <a:endParaRPr>
              <a:solidFill>
                <a:srgbClr val="003366"/>
              </a:solidFill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18048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4861768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Centralisation des signalements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5292179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Suivi transparent des travaux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572259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Messagerie interne directe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236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5409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78450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CONTEXTE ET OBJECTIFS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95983"/>
            <a:ext cx="3492400" cy="337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395983"/>
            <a:ext cx="3492549" cy="337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395983"/>
            <a:ext cx="3492400" cy="337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6410325"/>
            <a:ext cx="1171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Périmètre du projet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3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57250" y="3405633"/>
            <a:ext cx="30669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Comptes &amp; Profils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57250" y="4015233"/>
            <a:ext cx="29209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Inscription et authentification sécurisée. Chaque membre gère son profil et son mot de passe via un espace dédié.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635400" y="3405633"/>
            <a:ext cx="30671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Signalements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35400" y="4015233"/>
            <a:ext cx="29210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Création de "postes" géolocalisés avec description et niveau d'importance pour les incidents urbains.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413700" y="3405633"/>
            <a:ext cx="30669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Messagerie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413700" y="4015233"/>
            <a:ext cx="29209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Système de boite de réception privée permettant l'échange direct entre citoyens et administrateurs.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1983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400" y="271983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700" y="271983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SPÉCIFICATIONS FONCTIONNELLES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0" y="4001541"/>
            <a:ext cx="2667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0" y="4430166"/>
            <a:ext cx="2667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0" y="4858791"/>
            <a:ext cx="2667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0" y="4001541"/>
            <a:ext cx="2667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3250" y="4430166"/>
            <a:ext cx="2667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3250" y="4858791"/>
            <a:ext cx="2667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6410325"/>
            <a:ext cx="1190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Interface Utilisateur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4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71500" y="323596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Le design a été conçu pour être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sobre, professionnel et accessible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381750" y="2411164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Mise en page Responsive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381750" y="3020764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Utilisation de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CSS Grid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Flexbox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pour une adaptation parfaite sur smartphones et tablettes (Approche Mobile First).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121497"/>
            <a:ext cx="5238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67625" y="4835872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10575" y="4740622"/>
            <a:ext cx="5810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72600" y="4645372"/>
            <a:ext cx="9620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571500" y="4053929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Bleu Nuit (Header)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71500" y="4482554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Vert (Actions)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571500" y="4911179"/>
            <a:ext cx="238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Gris Clair (Fond)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IDENTITÉ VISUELLE &amp; UX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6410325"/>
            <a:ext cx="128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Choix technologiques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5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3513980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4CAF50"/>
                </a:solidFill>
                <a:latin typeface="Lato"/>
                <a:ea typeface="Lato"/>
                <a:cs typeface="Lato"/>
                <a:sym typeface="Lato"/>
              </a:rPr>
              <a:t>MVC Natif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500" u="none" cap="none" strike="noStrik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(Sans framework externe)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81750" y="4670226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Maîtrise totale du code et des performances de l'application.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381750" y="3283743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Modèle 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Gestion des données (DAO, Services).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381750" y="3714154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Vue 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Rendu HTML (syntaxe HereDoc).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381750" y="414456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Contrôleur 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Logique de routage et actions.</a:t>
            </a:r>
            <a:endParaRPr/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45656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77606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206478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ARCHITECTURE TECHNIQUE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p18"/>
          <p:cNvGraphicFramePr/>
          <p:nvPr/>
        </p:nvGraphicFramePr>
        <p:xfrm>
          <a:off x="571500" y="24720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{6031A505-8E2F-41D3-80AB-A1145263F4F3}</a:tableStyleId>
              </a:tblPr>
              <a:tblGrid>
                <a:gridCol w="1914675"/>
                <a:gridCol w="4661300"/>
                <a:gridCol w="447302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Champs Clés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Rôle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Utilisateur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email, mdp, id_role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Gestion des membres et droits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id_ville, importance, photo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Signalements citoyens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Travaux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cout, date_commande, date_fin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Suivi opérationnel des chantiers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id_exp, id_dest, content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Messagerie interne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18"/>
          <p:cNvSpPr txBox="1"/>
          <p:nvPr/>
        </p:nvSpPr>
        <p:spPr>
          <a:xfrm>
            <a:off x="571500" y="552003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Intégrité référentielle assurée par </a:t>
            </a:r>
            <a:r>
              <a:rPr b="1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ON DELETE CASCADE</a:t>
            </a: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6410325"/>
            <a:ext cx="1857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Structure de la base de données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6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577185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/>
          <p:nvPr/>
        </p:nvSpPr>
        <p:spPr>
          <a:xfrm>
            <a:off x="571500" y="3629322"/>
            <a:ext cx="191467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2486173" y="3629322"/>
            <a:ext cx="46612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147470" y="3629322"/>
            <a:ext cx="44730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71500" y="4191297"/>
            <a:ext cx="191467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2486173" y="4191297"/>
            <a:ext cx="46612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147470" y="4191297"/>
            <a:ext cx="44730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71500" y="4753272"/>
            <a:ext cx="191467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2486173" y="4753272"/>
            <a:ext cx="46612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147470" y="4753272"/>
            <a:ext cx="44730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571500" y="5315247"/>
            <a:ext cx="191467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2486173" y="5315247"/>
            <a:ext cx="46612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147470" y="5315247"/>
            <a:ext cx="44730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MODÈLE LOGIQUE DES DONNÉES (MLD)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60042"/>
            <a:ext cx="5238750" cy="22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71500" y="6410325"/>
            <a:ext cx="1000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Veille sécuritaire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7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381750" y="3258889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Confidentialité des données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381750" y="3868489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Les mots de passe ne sont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jamais stockés en clair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381750" y="441320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L'utilisation de l'algorithme BCRYPT garantit une résistance élevée aux attaques par force brute.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SÉCURITÉ : PROTECTION DES ACCÈS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24583"/>
            <a:ext cx="3492400" cy="2921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624583"/>
            <a:ext cx="3492549" cy="2921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624583"/>
            <a:ext cx="3492400" cy="292179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571500" y="6410325"/>
            <a:ext cx="1571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Protection de l'application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8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57250" y="3177033"/>
            <a:ext cx="30669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Injection SQL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57250" y="3786633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Utilisation systématique de l'objet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PDO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et des requêtes préparées avec </a:t>
            </a:r>
            <a:r>
              <a:rPr b="0" i="1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binding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4635400" y="3177033"/>
            <a:ext cx="30671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Failles CSRF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4635400" y="3786633"/>
            <a:ext cx="29210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Génération de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tokens de session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uniques vérifiés à chaque soumission de formulaire.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413700" y="3177033"/>
            <a:ext cx="30669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Failles XSS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8413700" y="3786633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Nettoyage des entrées utilisateurs via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htmlspecialchars()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trim()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SÉCURITÉ : FAILLES WEB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19908"/>
            <a:ext cx="5238750" cy="153114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571500" y="6410325"/>
            <a:ext cx="1171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Logique Applicative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0668000" y="641032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9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71500" y="293712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Le point d'entrée unique `index.php` délègue au routeur qui :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81050" y="3760797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52500" y="3759844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Identifie la page via l'URL (`?page=`).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81050" y="4191208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952500" y="419025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Vérifie le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rôle requis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81050" y="4621619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952500" y="4620666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Inclus dynamiquement le fichier vue ou action correspondant.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FOCUS TECHNIQUE : LE ROUTEUR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1860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571500" y="6410325"/>
            <a:ext cx="942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Bilan Technique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0591800" y="6410325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10</a:t>
            </a:r>
            <a:endParaRPr/>
          </a:p>
        </p:txBody>
      </p:sp>
      <p:pic>
        <p:nvPicPr>
          <p:cNvPr descr="image.png" id="267" name="Google Shape;26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1860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6381750" y="2533203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Gestion de l'Autoloader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381750" y="314280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Mise en place d'un chargement automatique des classes pour éviter les `require` répétitifs.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6381750" y="3908375"/>
            <a:ext cx="5238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6381750" y="419412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Abstraction via le DAO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381750" y="4803725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Création d'une classe `DAO.Class.php` générique pour factoriser les requêtes `SELECT` et instancier les objets dynamiquement.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DÉFIS ET APPRENTISSAGES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95983"/>
            <a:ext cx="3492400" cy="337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395983"/>
            <a:ext cx="3492549" cy="337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395983"/>
            <a:ext cx="3492400" cy="337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571500" y="6410325"/>
            <a:ext cx="1123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Le futur de FixVille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0591800" y="6410325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FixVille - Slide 11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857250" y="3405633"/>
            <a:ext cx="30669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Carte Interactive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857250" y="4015233"/>
            <a:ext cx="29209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Visualisation des postes sur une carte Leaflet ou Google Maps pour une meilleure gestion géographique.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4635400" y="3405633"/>
            <a:ext cx="30671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Push Notifications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4635400" y="4015233"/>
            <a:ext cx="29210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Alertes en temps réel pour les citoyens via une API de notification lors de la fin d'un chantier.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8413700" y="3405633"/>
            <a:ext cx="30669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Tableau de Bord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8413700" y="4015233"/>
            <a:ext cx="29209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Génération de graphiques statistiques sur les coûts et délais moyen de résolution des incidents.</a:t>
            </a:r>
            <a:endParaRPr/>
          </a:p>
        </p:txBody>
      </p:sp>
      <p:pic>
        <p:nvPicPr>
          <p:cNvPr descr="image.png" id="292" name="Google Shape;29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1983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400" y="271983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700" y="271983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762000" y="90353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ÉVOLUTIONS ET PERSPECTIVES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571500" y="903535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571500" y="1487983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4CAF50"/>
                </a:solidFill>
                <a:latin typeface="Lato"/>
                <a:ea typeface="Lato"/>
                <a:cs typeface="Lato"/>
                <a:sym typeface="Lato"/>
              </a:rPr>
              <a:t>MERCI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571500" y="3126283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Avez-vous des questions ?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571500" y="6410325"/>
            <a:ext cx="1143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Fin de présentation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10201275" y="6410325"/>
            <a:ext cx="14192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Yousri GUERRAS - 2024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571500" y="439489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yousri.guerras@exemple.fr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571500" y="493960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www.fixville-projet.fr</a:t>
            </a:r>
            <a:endParaRPr/>
          </a:p>
        </p:txBody>
      </p:sp>
      <p:pic>
        <p:nvPicPr>
          <p:cNvPr descr="image.png" id="309" name="Google Shape;30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8687" y="446156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1575" y="5006280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