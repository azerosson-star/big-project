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Poppins"/>
      <p:regular r:id="rId19"/>
      <p:bold r:id="rId20"/>
      <p:italic r:id="rId21"/>
      <p:boldItalic r:id="rId22"/>
    </p:embeddedFont>
    <p:embeddedFont>
      <p:font typeface="Lato"/>
      <p:regular r:id="rId23"/>
      <p:bold r:id="rId24"/>
      <p:italic r:id="rId25"/>
      <p:boldItalic r:id="rId26"/>
    </p:embeddedFont>
    <p:embeddedFont>
      <p:font typeface="Lato Light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A52BF4-F2F9-43F4-9BFD-AFC284542D51}">
  <a:tblStyle styleId="{1FA52BF4-F2F9-43F4-9BFD-AFC284542D5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bold.fntdata"/><Relationship Id="rId22" Type="http://schemas.openxmlformats.org/officeDocument/2006/relationships/font" Target="fonts/Poppins-boldItalic.fntdata"/><Relationship Id="rId21" Type="http://schemas.openxmlformats.org/officeDocument/2006/relationships/font" Target="fonts/Poppins-italic.fntdata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28" Type="http://schemas.openxmlformats.org/officeDocument/2006/relationships/font" Target="fonts/LatoLight-bold.fntdata"/><Relationship Id="rId27" Type="http://schemas.openxmlformats.org/officeDocument/2006/relationships/font" Target="fonts/LatoLight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Light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LatoLight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Poppins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1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4.png"/><Relationship Id="rId7" Type="http://schemas.openxmlformats.org/officeDocument/2006/relationships/image" Target="../media/image8.png"/><Relationship Id="rId8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1" Type="http://schemas.openxmlformats.org/officeDocument/2006/relationships/image" Target="../media/image14.png"/><Relationship Id="rId10" Type="http://schemas.openxmlformats.org/officeDocument/2006/relationships/image" Target="../media/image13.png"/><Relationship Id="rId12" Type="http://schemas.openxmlformats.org/officeDocument/2006/relationships/image" Target="../media/image17.png"/><Relationship Id="rId9" Type="http://schemas.openxmlformats.org/officeDocument/2006/relationships/image" Target="../media/image2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9.png"/><Relationship Id="rId8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23.png"/><Relationship Id="rId7" Type="http://schemas.openxmlformats.org/officeDocument/2006/relationships/image" Target="../media/image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image" Target="../media/image3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image" Target="../media/image30.png"/><Relationship Id="rId5" Type="http://schemas.openxmlformats.org/officeDocument/2006/relationships/image" Target="../media/image19.png"/><Relationship Id="rId6" Type="http://schemas.openxmlformats.org/officeDocument/2006/relationships/image" Target="../media/image4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4.png"/><Relationship Id="rId6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953023"/>
            <a:ext cx="3810000" cy="1550193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295275" y="1354633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FIXVILLE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2954833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666666"/>
                </a:solidFill>
                <a:latin typeface="Lato Light"/>
                <a:ea typeface="Lato Light"/>
                <a:cs typeface="Lato Light"/>
                <a:sym typeface="Lato Light"/>
              </a:rPr>
              <a:t>Réalisation d'une application de gestion des signalements urbains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71500" y="6410325"/>
            <a:ext cx="7905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2024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10096500" y="6410325"/>
            <a:ext cx="15240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Dossier de Projet - Page 1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571500" y="4162573"/>
            <a:ext cx="3810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Présenté par : Yousri GUERRAS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571500" y="4497734"/>
            <a:ext cx="3810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Formation : Développeur Web &amp; Web Mobile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571500" y="5168056"/>
            <a:ext cx="3810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AFPA La Sentinelle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2180480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571500" y="6410325"/>
            <a:ext cx="10668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Analyse du besoin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2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571500" y="2227510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Le Problème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571500" y="2837110"/>
            <a:ext cx="5238750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La communication entre citoyens et services municipaux est souvent fragmentée et peu réactive. Les signalements (trous, éclairage) se perdent dans des processus manuels.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571500" y="4033093"/>
            <a:ext cx="523875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571500" y="4309318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La Solution : FixVille</a:t>
            </a:r>
            <a:endParaRPr/>
          </a:p>
        </p:txBody>
      </p:sp>
      <p:pic>
        <p:nvPicPr>
          <p:cNvPr descr="image.png" id="107" name="Google Shape;10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81750" y="2180480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571500" y="4861768"/>
            <a:ext cx="5238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Centralisation des signalements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571500" y="5292179"/>
            <a:ext cx="5238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Suivi transparent des travaux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571500" y="5722590"/>
            <a:ext cx="5238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Messagerie interne directe</a:t>
            </a:r>
            <a:endParaRPr/>
          </a:p>
        </p:txBody>
      </p:sp>
      <p:pic>
        <p:nvPicPr>
          <p:cNvPr descr="image.png" id="111" name="Google Shape;111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923680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2" name="Google Shape;11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5354091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3" name="Google Shape;113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5784502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4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CONTEXTE ET OBJECTIFS</a:t>
            </a:r>
            <a:endParaRPr/>
          </a:p>
        </p:txBody>
      </p:sp>
      <p:sp>
        <p:nvSpPr>
          <p:cNvPr id="115" name="Google Shape;115;p14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395983"/>
            <a:ext cx="3492400" cy="33789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49650" y="2395983"/>
            <a:ext cx="3492549" cy="33789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7950" y="2395983"/>
            <a:ext cx="3492400" cy="3378993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5"/>
          <p:cNvSpPr txBox="1"/>
          <p:nvPr/>
        </p:nvSpPr>
        <p:spPr>
          <a:xfrm>
            <a:off x="571500" y="6410325"/>
            <a:ext cx="11715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Périmètre du projet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3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57250" y="3405633"/>
            <a:ext cx="306694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Comptes &amp; Profils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57250" y="4015233"/>
            <a:ext cx="2920900" cy="1340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Inscription et authentification sécurisée. Chaque membre gère son profil et son mot de passe via un espace dédié.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4635400" y="3405633"/>
            <a:ext cx="306710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Signalements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4635400" y="4015233"/>
            <a:ext cx="2921049" cy="1340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Création de "postes" géolocalisés avec description et niveau d'importance pour les incidents urbains.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413700" y="3405633"/>
            <a:ext cx="306694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Messagerie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8413700" y="4015233"/>
            <a:ext cx="2920900" cy="1340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Système de boite de réception privée permettant l'échange direct entre citoyens et administrateurs.</a:t>
            </a:r>
            <a:endParaRPr/>
          </a:p>
        </p:txBody>
      </p:sp>
      <p:pic>
        <p:nvPicPr>
          <p:cNvPr descr="image.png" id="133" name="Google Shape;133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7250" y="2719833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5400" y="2719833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13700" y="271983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5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SPÉCIFICATIONS FONCTIONNELLES</a:t>
            </a:r>
            <a:endParaRPr/>
          </a:p>
        </p:txBody>
      </p:sp>
      <p:sp>
        <p:nvSpPr>
          <p:cNvPr id="137" name="Google Shape;137;p15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2" name="Google Shape;14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3" name="Google Shape;143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43250" y="4001541"/>
            <a:ext cx="2667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43250" y="4430166"/>
            <a:ext cx="2667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43250" y="4858791"/>
            <a:ext cx="2667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143250" y="4001541"/>
            <a:ext cx="2667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43250" y="4430166"/>
            <a:ext cx="2667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143250" y="4858791"/>
            <a:ext cx="266700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6"/>
          <p:cNvSpPr txBox="1"/>
          <p:nvPr/>
        </p:nvSpPr>
        <p:spPr>
          <a:xfrm>
            <a:off x="571500" y="6410325"/>
            <a:ext cx="11906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Interface Utilisateur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4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71500" y="3235969"/>
            <a:ext cx="523875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Le design a été conçu pour être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sobre, professionnel et accessible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6381750" y="2411164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Mise en page Responsive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6381750" y="3020764"/>
            <a:ext cx="5238750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Utilisation de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CSS Grid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et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Flexbox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pour une adaptation parfaite sur smartphones et tablettes (Approche Mobile First).</a:t>
            </a:r>
            <a:endParaRPr/>
          </a:p>
        </p:txBody>
      </p:sp>
      <p:pic>
        <p:nvPicPr>
          <p:cNvPr descr="image.png" id="155" name="Google Shape;155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81750" y="4121497"/>
            <a:ext cx="523875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67625" y="4835872"/>
            <a:ext cx="3619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410575" y="4740622"/>
            <a:ext cx="581025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372600" y="4645372"/>
            <a:ext cx="962025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 txBox="1"/>
          <p:nvPr/>
        </p:nvSpPr>
        <p:spPr>
          <a:xfrm>
            <a:off x="571500" y="4053929"/>
            <a:ext cx="23812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Bleu Nuit (Header)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571500" y="4482554"/>
            <a:ext cx="23812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Vert (Actions)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571500" y="4911179"/>
            <a:ext cx="23812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Gris Clair (Fond)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IDENTITÉ VISUELLE &amp; UX</a:t>
            </a:r>
            <a:endParaRPr/>
          </a:p>
        </p:txBody>
      </p:sp>
      <p:sp>
        <p:nvSpPr>
          <p:cNvPr id="163" name="Google Shape;163;p16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8" name="Google Shape;16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7"/>
          <p:cNvSpPr txBox="1"/>
          <p:nvPr/>
        </p:nvSpPr>
        <p:spPr>
          <a:xfrm>
            <a:off x="571500" y="6410325"/>
            <a:ext cx="12858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Choix technologiques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5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571500" y="3513980"/>
            <a:ext cx="52387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4CAF50"/>
                </a:solidFill>
                <a:latin typeface="Lato"/>
                <a:ea typeface="Lato"/>
                <a:cs typeface="Lato"/>
                <a:sym typeface="Lato"/>
              </a:rPr>
              <a:t>MVC Natif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4500" u="none" cap="none" strike="noStrike">
                <a:solidFill>
                  <a:srgbClr val="666666"/>
                </a:solidFill>
                <a:latin typeface="Lato Light"/>
                <a:ea typeface="Lato Light"/>
                <a:cs typeface="Lato Light"/>
                <a:sym typeface="Lato Light"/>
              </a:rPr>
              <a:t>(Sans framework externe)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6381750" y="4670226"/>
            <a:ext cx="52387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Maîtrise totale du code et des performances de l'application.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6381750" y="3283743"/>
            <a:ext cx="5238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667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Modèle :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Gestion des données (DAO, Services).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6381750" y="3714154"/>
            <a:ext cx="5238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381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Vue :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Rendu HTML (syntaxe HereDoc).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6381750" y="4144565"/>
            <a:ext cx="5238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381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Contrôleur :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Logique de routage et actions.</a:t>
            </a:r>
            <a:endParaRPr/>
          </a:p>
        </p:txBody>
      </p:sp>
      <p:pic>
        <p:nvPicPr>
          <p:cNvPr descr="image.png" id="177" name="Google Shape;17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3345656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81750" y="3776067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1750" y="4206478"/>
            <a:ext cx="23812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ARCHITECTURE TECHNIQUE</a:t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8" name="Google Shape;188;p18"/>
          <p:cNvGraphicFramePr/>
          <p:nvPr/>
        </p:nvGraphicFramePr>
        <p:xfrm>
          <a:off x="571500" y="247203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{1FA52BF4-F2F9-43F4-9BFD-AFC284542D51}</a:tableStyleId>
              </a:tblPr>
              <a:tblGrid>
                <a:gridCol w="1914675"/>
                <a:gridCol w="4661300"/>
                <a:gridCol w="4473025"/>
              </a:tblGrid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Table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Champs Clés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Rôle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C3E5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Utilisateur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id, email, mdp, id_role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Gestion des membres et droits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Poste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id, id_ville, importance, photo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Signalements citoyens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Travaux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id, cout, date_commande, date_fin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Suivi opérationnel des chantiers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Message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id, id_exp, id_dest, content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Messagerie interne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89" name="Google Shape;189;p18"/>
          <p:cNvSpPr txBox="1"/>
          <p:nvPr/>
        </p:nvSpPr>
        <p:spPr>
          <a:xfrm>
            <a:off x="571500" y="5520035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Intégrité référentielle assurée par </a:t>
            </a:r>
            <a:r>
              <a:rPr b="1" i="0" lang="en-US" sz="13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ON DELETE CASCADE</a:t>
            </a:r>
            <a:r>
              <a:rPr b="0" i="0" lang="en-US" sz="13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571500" y="6410325"/>
            <a:ext cx="18573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Structure de la base de données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6</a:t>
            </a:r>
            <a:endParaRPr/>
          </a:p>
        </p:txBody>
      </p:sp>
      <p:pic>
        <p:nvPicPr>
          <p:cNvPr descr="image.png" id="192" name="Google Shape;192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5577185"/>
            <a:ext cx="2190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8"/>
          <p:cNvSpPr/>
          <p:nvPr/>
        </p:nvSpPr>
        <p:spPr>
          <a:xfrm>
            <a:off x="571500" y="3629322"/>
            <a:ext cx="1914673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2486173" y="3629322"/>
            <a:ext cx="466129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7147470" y="3629322"/>
            <a:ext cx="447302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571500" y="4191297"/>
            <a:ext cx="1914673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2486173" y="4191297"/>
            <a:ext cx="466129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7147470" y="4191297"/>
            <a:ext cx="447302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571500" y="4753272"/>
            <a:ext cx="1914673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2486173" y="4753272"/>
            <a:ext cx="466129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7147470" y="4753272"/>
            <a:ext cx="447302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571500" y="5315247"/>
            <a:ext cx="1914673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2486173" y="5315247"/>
            <a:ext cx="466129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7147470" y="5315247"/>
            <a:ext cx="447302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MODÈLE LOGIQUE DES DONNÉES (MLD)</a:t>
            </a:r>
            <a:endParaRPr/>
          </a:p>
        </p:txBody>
      </p:sp>
      <p:sp>
        <p:nvSpPr>
          <p:cNvPr id="206" name="Google Shape;206;p18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960042"/>
            <a:ext cx="5238750" cy="2250876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9"/>
          <p:cNvSpPr txBox="1"/>
          <p:nvPr/>
        </p:nvSpPr>
        <p:spPr>
          <a:xfrm>
            <a:off x="571500" y="6410325"/>
            <a:ext cx="10001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Veille sécuritaire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7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6381750" y="3258889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Confidentialité des données</a:t>
            </a:r>
            <a:endParaRPr/>
          </a:p>
        </p:txBody>
      </p:sp>
      <p:sp>
        <p:nvSpPr>
          <p:cNvPr id="217" name="Google Shape;217;p19"/>
          <p:cNvSpPr txBox="1"/>
          <p:nvPr/>
        </p:nvSpPr>
        <p:spPr>
          <a:xfrm>
            <a:off x="6381750" y="3868489"/>
            <a:ext cx="5238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Les mots de passe ne sont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jamais stockés en clair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18" name="Google Shape;218;p19"/>
          <p:cNvSpPr txBox="1"/>
          <p:nvPr/>
        </p:nvSpPr>
        <p:spPr>
          <a:xfrm>
            <a:off x="6381750" y="4413200"/>
            <a:ext cx="523875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L'utilisation de l'algorithme BCRYPT garantit une résistance élevée aux attaques par force brute.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SÉCURITÉ : PROTECTION DES ACCÈS</a:t>
            </a:r>
            <a:endParaRPr/>
          </a:p>
        </p:txBody>
      </p:sp>
      <p:sp>
        <p:nvSpPr>
          <p:cNvPr id="220" name="Google Shape;220;p19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624583"/>
            <a:ext cx="3492400" cy="29217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49650" y="2624583"/>
            <a:ext cx="3492549" cy="29217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7950" y="2624583"/>
            <a:ext cx="3492400" cy="2921793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 txBox="1"/>
          <p:nvPr/>
        </p:nvSpPr>
        <p:spPr>
          <a:xfrm>
            <a:off x="571500" y="6410325"/>
            <a:ext cx="15716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Protection de l'application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8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857250" y="3177033"/>
            <a:ext cx="306694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Injection SQL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857250" y="3786633"/>
            <a:ext cx="2920900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Utilisation systématique de l'objet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PDO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et des requêtes préparées avec </a:t>
            </a:r>
            <a:r>
              <a:rPr b="0" i="1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binding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4635400" y="3177033"/>
            <a:ext cx="306710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Failles CSRF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4635400" y="3786633"/>
            <a:ext cx="2921049" cy="1340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Génération de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tokens de session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uniques vérifiés à chaque soumission de formulaire.</a:t>
            </a:r>
            <a:endParaRPr/>
          </a:p>
        </p:txBody>
      </p:sp>
      <p:sp>
        <p:nvSpPr>
          <p:cNvPr id="236" name="Google Shape;236;p20"/>
          <p:cNvSpPr txBox="1"/>
          <p:nvPr/>
        </p:nvSpPr>
        <p:spPr>
          <a:xfrm>
            <a:off x="8413700" y="3177033"/>
            <a:ext cx="306694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Failles XSS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8413700" y="3786633"/>
            <a:ext cx="2920900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Nettoyage des entrées utilisateurs via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htmlspecialchars()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 et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trim()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38" name="Google Shape;238;p20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SÉCURITÉ : FAILLES WEB</a:t>
            </a:r>
            <a:endParaRPr/>
          </a:p>
        </p:txBody>
      </p:sp>
      <p:sp>
        <p:nvSpPr>
          <p:cNvPr id="239" name="Google Shape;239;p20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4" name="Google Shape;24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3319908"/>
            <a:ext cx="5238750" cy="153114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1"/>
          <p:cNvSpPr txBox="1"/>
          <p:nvPr/>
        </p:nvSpPr>
        <p:spPr>
          <a:xfrm>
            <a:off x="571500" y="6410325"/>
            <a:ext cx="11715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Logique Applicative</a:t>
            </a:r>
            <a:endParaRPr/>
          </a:p>
        </p:txBody>
      </p:sp>
      <p:sp>
        <p:nvSpPr>
          <p:cNvPr id="248" name="Google Shape;248;p21"/>
          <p:cNvSpPr txBox="1"/>
          <p:nvPr/>
        </p:nvSpPr>
        <p:spPr>
          <a:xfrm>
            <a:off x="10668000" y="6410325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9</a:t>
            </a:r>
            <a:endParaRPr/>
          </a:p>
        </p:txBody>
      </p:sp>
      <p:sp>
        <p:nvSpPr>
          <p:cNvPr id="249" name="Google Shape;249;p21"/>
          <p:cNvSpPr txBox="1"/>
          <p:nvPr/>
        </p:nvSpPr>
        <p:spPr>
          <a:xfrm>
            <a:off x="571500" y="2937123"/>
            <a:ext cx="523875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Le point d'entrée unique `index.php` délègue au routeur qui :</a:t>
            </a:r>
            <a:endParaRPr/>
          </a:p>
        </p:txBody>
      </p:sp>
      <p:sp>
        <p:nvSpPr>
          <p:cNvPr id="250" name="Google Shape;250;p21"/>
          <p:cNvSpPr txBox="1"/>
          <p:nvPr/>
        </p:nvSpPr>
        <p:spPr>
          <a:xfrm>
            <a:off x="781050" y="3760797"/>
            <a:ext cx="171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1.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952500" y="3759844"/>
            <a:ext cx="4857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Identifie la page via l'URL (`?page=`).</a:t>
            </a:r>
            <a:endParaRPr/>
          </a:p>
        </p:txBody>
      </p:sp>
      <p:sp>
        <p:nvSpPr>
          <p:cNvPr id="252" name="Google Shape;252;p21"/>
          <p:cNvSpPr txBox="1"/>
          <p:nvPr/>
        </p:nvSpPr>
        <p:spPr>
          <a:xfrm>
            <a:off x="781050" y="4191208"/>
            <a:ext cx="171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2.</a:t>
            </a:r>
            <a:endParaRPr/>
          </a:p>
        </p:txBody>
      </p:sp>
      <p:sp>
        <p:nvSpPr>
          <p:cNvPr id="253" name="Google Shape;253;p21"/>
          <p:cNvSpPr txBox="1"/>
          <p:nvPr/>
        </p:nvSpPr>
        <p:spPr>
          <a:xfrm>
            <a:off x="952500" y="4190255"/>
            <a:ext cx="48577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Vérifie le </a:t>
            </a:r>
            <a:r>
              <a:rPr b="1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rôle requis</a:t>
            </a: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54" name="Google Shape;254;p21"/>
          <p:cNvSpPr txBox="1"/>
          <p:nvPr/>
        </p:nvSpPr>
        <p:spPr>
          <a:xfrm>
            <a:off x="781050" y="4621619"/>
            <a:ext cx="171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3.</a:t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952500" y="4620666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Inclus dynamiquement le fichier vue ou action correspondant.</a:t>
            </a:r>
            <a:endParaRPr/>
          </a:p>
        </p:txBody>
      </p:sp>
      <p:sp>
        <p:nvSpPr>
          <p:cNvPr id="256" name="Google Shape;256;p21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FOCUS TECHNIQUE : LE ROUTEUR</a:t>
            </a:r>
            <a:endParaRPr/>
          </a:p>
        </p:txBody>
      </p:sp>
      <p:sp>
        <p:nvSpPr>
          <p:cNvPr id="257" name="Google Shape;257;p21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2" name="Google Shape;26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3" name="Google Shape;26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4" name="Google Shape;26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418605"/>
            <a:ext cx="5238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2"/>
          <p:cNvSpPr txBox="1"/>
          <p:nvPr/>
        </p:nvSpPr>
        <p:spPr>
          <a:xfrm>
            <a:off x="571500" y="6410325"/>
            <a:ext cx="9429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Bilan Technique</a:t>
            </a:r>
            <a:endParaRPr/>
          </a:p>
        </p:txBody>
      </p:sp>
      <p:sp>
        <p:nvSpPr>
          <p:cNvPr id="266" name="Google Shape;266;p22"/>
          <p:cNvSpPr txBox="1"/>
          <p:nvPr/>
        </p:nvSpPr>
        <p:spPr>
          <a:xfrm>
            <a:off x="10591800" y="6410325"/>
            <a:ext cx="1028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10</a:t>
            </a:r>
            <a:endParaRPr/>
          </a:p>
        </p:txBody>
      </p:sp>
      <p:pic>
        <p:nvPicPr>
          <p:cNvPr descr="image.png" id="267" name="Google Shape;267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418605"/>
            <a:ext cx="5238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2"/>
          <p:cNvSpPr txBox="1"/>
          <p:nvPr/>
        </p:nvSpPr>
        <p:spPr>
          <a:xfrm>
            <a:off x="6381750" y="2533203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Gestion de l'Autoloader</a:t>
            </a:r>
            <a:endParaRPr/>
          </a:p>
        </p:txBody>
      </p:sp>
      <p:sp>
        <p:nvSpPr>
          <p:cNvPr id="269" name="Google Shape;269;p22"/>
          <p:cNvSpPr txBox="1"/>
          <p:nvPr/>
        </p:nvSpPr>
        <p:spPr>
          <a:xfrm>
            <a:off x="6381750" y="3142803"/>
            <a:ext cx="523875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Mise en place d'un chargement automatique des classes pour éviter les `require` répétitifs.</a:t>
            </a:r>
            <a:endParaRPr/>
          </a:p>
        </p:txBody>
      </p:sp>
      <p:sp>
        <p:nvSpPr>
          <p:cNvPr id="270" name="Google Shape;270;p22"/>
          <p:cNvSpPr/>
          <p:nvPr/>
        </p:nvSpPr>
        <p:spPr>
          <a:xfrm>
            <a:off x="6381750" y="3908375"/>
            <a:ext cx="523875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 txBox="1"/>
          <p:nvPr/>
        </p:nvSpPr>
        <p:spPr>
          <a:xfrm>
            <a:off x="6381750" y="4194125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Abstraction via le DAO</a:t>
            </a:r>
            <a:endParaRPr/>
          </a:p>
        </p:txBody>
      </p:sp>
      <p:sp>
        <p:nvSpPr>
          <p:cNvPr id="272" name="Google Shape;272;p22"/>
          <p:cNvSpPr txBox="1"/>
          <p:nvPr/>
        </p:nvSpPr>
        <p:spPr>
          <a:xfrm>
            <a:off x="6381750" y="4803725"/>
            <a:ext cx="5238750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Création d'une classe `DAO.Class.php` générique pour factoriser les requêtes `SELECT` et instancier les objets dynamiquement.</a:t>
            </a:r>
            <a:endParaRPr/>
          </a:p>
        </p:txBody>
      </p:sp>
      <p:sp>
        <p:nvSpPr>
          <p:cNvPr id="273" name="Google Shape;273;p22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DÉFIS ET APPRENTISSAGES</a:t>
            </a:r>
            <a:endParaRPr/>
          </a:p>
        </p:txBody>
      </p:sp>
      <p:sp>
        <p:nvSpPr>
          <p:cNvPr id="274" name="Google Shape;274;p22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9" name="Google Shape;27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395983"/>
            <a:ext cx="3492400" cy="33789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49650" y="2395983"/>
            <a:ext cx="3492549" cy="33789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7950" y="2395983"/>
            <a:ext cx="3492400" cy="3378993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3"/>
          <p:cNvSpPr txBox="1"/>
          <p:nvPr/>
        </p:nvSpPr>
        <p:spPr>
          <a:xfrm>
            <a:off x="571500" y="6410325"/>
            <a:ext cx="11239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Le futur de FixVille</a:t>
            </a:r>
            <a:endParaRPr/>
          </a:p>
        </p:txBody>
      </p:sp>
      <p:sp>
        <p:nvSpPr>
          <p:cNvPr id="285" name="Google Shape;285;p23"/>
          <p:cNvSpPr txBox="1"/>
          <p:nvPr/>
        </p:nvSpPr>
        <p:spPr>
          <a:xfrm>
            <a:off x="10591800" y="6410325"/>
            <a:ext cx="1028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FixVille - Slide 11</a:t>
            </a:r>
            <a:endParaRPr/>
          </a:p>
        </p:txBody>
      </p:sp>
      <p:sp>
        <p:nvSpPr>
          <p:cNvPr id="286" name="Google Shape;286;p23"/>
          <p:cNvSpPr txBox="1"/>
          <p:nvPr/>
        </p:nvSpPr>
        <p:spPr>
          <a:xfrm>
            <a:off x="857250" y="3405633"/>
            <a:ext cx="306694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Carte Interactive</a:t>
            </a:r>
            <a:endParaRPr/>
          </a:p>
        </p:txBody>
      </p:sp>
      <p:sp>
        <p:nvSpPr>
          <p:cNvPr id="287" name="Google Shape;287;p23"/>
          <p:cNvSpPr txBox="1"/>
          <p:nvPr/>
        </p:nvSpPr>
        <p:spPr>
          <a:xfrm>
            <a:off x="857250" y="4015233"/>
            <a:ext cx="2920900" cy="1340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Visualisation des postes sur une carte Leaflet ou Google Maps pour une meilleure gestion géographique.</a:t>
            </a:r>
            <a:endParaRPr/>
          </a:p>
        </p:txBody>
      </p:sp>
      <p:sp>
        <p:nvSpPr>
          <p:cNvPr id="288" name="Google Shape;288;p23"/>
          <p:cNvSpPr txBox="1"/>
          <p:nvPr/>
        </p:nvSpPr>
        <p:spPr>
          <a:xfrm>
            <a:off x="4635400" y="3405633"/>
            <a:ext cx="306710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Push Notifications</a:t>
            </a:r>
            <a:endParaRPr/>
          </a:p>
        </p:txBody>
      </p:sp>
      <p:sp>
        <p:nvSpPr>
          <p:cNvPr id="289" name="Google Shape;289;p23"/>
          <p:cNvSpPr txBox="1"/>
          <p:nvPr/>
        </p:nvSpPr>
        <p:spPr>
          <a:xfrm>
            <a:off x="4635400" y="4015233"/>
            <a:ext cx="2921049" cy="1340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Alertes en temps réel pour les citoyens via une API de notification lors de la fin d'un chantier.</a:t>
            </a:r>
            <a:endParaRPr/>
          </a:p>
        </p:txBody>
      </p:sp>
      <p:sp>
        <p:nvSpPr>
          <p:cNvPr id="290" name="Google Shape;290;p23"/>
          <p:cNvSpPr txBox="1"/>
          <p:nvPr/>
        </p:nvSpPr>
        <p:spPr>
          <a:xfrm>
            <a:off x="8413700" y="3405633"/>
            <a:ext cx="306694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CAF50"/>
                </a:solidFill>
                <a:latin typeface="Poppins"/>
                <a:ea typeface="Poppins"/>
                <a:cs typeface="Poppins"/>
                <a:sym typeface="Poppins"/>
              </a:rPr>
              <a:t>Tableau de Bord</a:t>
            </a:r>
            <a:endParaRPr/>
          </a:p>
        </p:txBody>
      </p:sp>
      <p:sp>
        <p:nvSpPr>
          <p:cNvPr id="291" name="Google Shape;291;p23"/>
          <p:cNvSpPr txBox="1"/>
          <p:nvPr/>
        </p:nvSpPr>
        <p:spPr>
          <a:xfrm>
            <a:off x="8413700" y="4015233"/>
            <a:ext cx="2920900" cy="13406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Génération de graphiques statistiques sur les coûts et délais moyen de résolution des incidents.</a:t>
            </a:r>
            <a:endParaRPr/>
          </a:p>
        </p:txBody>
      </p:sp>
      <p:pic>
        <p:nvPicPr>
          <p:cNvPr descr="image.png" id="292" name="Google Shape;292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7250" y="2719833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5400" y="2719833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13700" y="271983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3"/>
          <p:cNvSpPr txBox="1"/>
          <p:nvPr/>
        </p:nvSpPr>
        <p:spPr>
          <a:xfrm>
            <a:off x="762000" y="903535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2C3E50"/>
                </a:solidFill>
                <a:latin typeface="Poppins"/>
                <a:ea typeface="Poppins"/>
                <a:cs typeface="Poppins"/>
                <a:sym typeface="Poppins"/>
              </a:rPr>
              <a:t>ÉVOLUTIONS ET PERSPECTIVES</a:t>
            </a:r>
            <a:endParaRPr/>
          </a:p>
        </p:txBody>
      </p:sp>
      <p:sp>
        <p:nvSpPr>
          <p:cNvPr id="296" name="Google Shape;296;p23"/>
          <p:cNvSpPr/>
          <p:nvPr/>
        </p:nvSpPr>
        <p:spPr>
          <a:xfrm>
            <a:off x="571500" y="903535"/>
            <a:ext cx="76200" cy="600075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1" name="Google Shape;30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2" name="Google Shape;30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4"/>
          <p:cNvSpPr txBox="1"/>
          <p:nvPr/>
        </p:nvSpPr>
        <p:spPr>
          <a:xfrm>
            <a:off x="571500" y="1487983"/>
            <a:ext cx="11049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0" u="none" cap="none" strike="noStrike">
                <a:solidFill>
                  <a:srgbClr val="4CAF50"/>
                </a:solidFill>
                <a:latin typeface="Lato"/>
                <a:ea typeface="Lato"/>
                <a:cs typeface="Lato"/>
                <a:sym typeface="Lato"/>
              </a:rPr>
              <a:t>MERCI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571500" y="3126283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Lato Light"/>
                <a:ea typeface="Lato Light"/>
                <a:cs typeface="Lato Light"/>
                <a:sym typeface="Lato Light"/>
              </a:rPr>
              <a:t>Avez-vous des questions ?</a:t>
            </a:r>
            <a:endParaRPr/>
          </a:p>
        </p:txBody>
      </p:sp>
      <p:sp>
        <p:nvSpPr>
          <p:cNvPr id="305" name="Google Shape;305;p24"/>
          <p:cNvSpPr txBox="1"/>
          <p:nvPr/>
        </p:nvSpPr>
        <p:spPr>
          <a:xfrm>
            <a:off x="571500" y="6410325"/>
            <a:ext cx="11430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Fin de présentation</a:t>
            </a:r>
            <a:endParaRPr/>
          </a:p>
        </p:txBody>
      </p:sp>
      <p:sp>
        <p:nvSpPr>
          <p:cNvPr id="306" name="Google Shape;306;p24"/>
          <p:cNvSpPr txBox="1"/>
          <p:nvPr/>
        </p:nvSpPr>
        <p:spPr>
          <a:xfrm>
            <a:off x="10201275" y="6410325"/>
            <a:ext cx="14192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Yousri GUERRAS - 2024</a:t>
            </a:r>
            <a:endParaRPr/>
          </a:p>
        </p:txBody>
      </p:sp>
      <p:sp>
        <p:nvSpPr>
          <p:cNvPr id="307" name="Google Shape;307;p24"/>
          <p:cNvSpPr txBox="1"/>
          <p:nvPr/>
        </p:nvSpPr>
        <p:spPr>
          <a:xfrm>
            <a:off x="571500" y="4394894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yousri.guerras@exemple.fr</a:t>
            </a:r>
            <a:endParaRPr/>
          </a:p>
        </p:txBody>
      </p:sp>
      <p:sp>
        <p:nvSpPr>
          <p:cNvPr id="308" name="Google Shape;308;p24"/>
          <p:cNvSpPr txBox="1"/>
          <p:nvPr/>
        </p:nvSpPr>
        <p:spPr>
          <a:xfrm>
            <a:off x="571500" y="4939605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www.fixville-projet.fr</a:t>
            </a:r>
            <a:endParaRPr/>
          </a:p>
        </p:txBody>
      </p:sp>
      <p:pic>
        <p:nvPicPr>
          <p:cNvPr descr="image.png" id="309" name="Google Shape;30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38687" y="4461569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81575" y="5006280"/>
            <a:ext cx="209550" cy="20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